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42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6459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Senapati, Manipur  ·  Dept. of Computer Science &amp; Engineering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" y="475488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14FF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MediXAI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182880" y="144475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Unified Multi-Disease Prediction System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82880" y="2011680"/>
            <a:ext cx="1664208" cy="347472"/>
          </a:xfrm>
          <a:prstGeom prst="roundRect">
            <a:avLst>
              <a:gd name="adj" fmla="val 18421"/>
            </a:avLst>
          </a:prstGeom>
          <a:solidFill>
            <a:srgbClr val="27AE60">
              <a:alpha val="7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20116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965960" y="2011680"/>
            <a:ext cx="1664208" cy="347472"/>
          </a:xfrm>
          <a:prstGeom prst="roundRect">
            <a:avLst>
              <a:gd name="adj" fmla="val 18421"/>
            </a:avLst>
          </a:prstGeom>
          <a:solidFill>
            <a:srgbClr val="E05C68">
              <a:alpha val="70000"/>
            </a:srgbClr>
          </a:solidFill>
          <a:ln w="12700">
            <a:solidFill>
              <a:srgbClr val="E05C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20116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49040" y="2011680"/>
            <a:ext cx="1664208" cy="347472"/>
          </a:xfrm>
          <a:prstGeom prst="roundRect">
            <a:avLst>
              <a:gd name="adj" fmla="val 18421"/>
            </a:avLst>
          </a:prstGeom>
          <a:solidFill>
            <a:srgbClr val="9B59B6">
              <a:alpha val="7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0116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Parkinson's</a:t>
            </a:r>
            <a:endParaRPr lang="en-US" sz="11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487168"/>
            <a:ext cx="5349240" cy="2450592"/>
          </a:xfrm>
          <a:prstGeom prst="rect">
            <a:avLst/>
          </a:prstGeom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5760720" y="502920"/>
            <a:ext cx="3200400" cy="4407408"/>
          </a:xfrm>
          <a:prstGeom prst="rect">
            <a:avLst/>
          </a:prstGeom>
          <a:solidFill>
            <a:srgbClr val="0F2744"/>
          </a:solidFill>
          <a:ln w="19050">
            <a:solidFill>
              <a:srgbClr val="0D7377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97880" y="658368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Sambodh Gupta</a:t>
            </a:r>
            <a:endParaRPr lang="en-US" sz="17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230101019
Semester VI  ·  B.Tech CSE
</a:t>
            </a:r>
            <a:endParaRPr lang="en-US" sz="170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
</a:t>
            </a:r>
            <a:endParaRPr lang="en-US" sz="17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Kishorjit Nongmeikapam
</a:t>
            </a:r>
            <a:endParaRPr lang="en-US" sz="17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Professor, CSE</a:t>
            </a:r>
            <a:endParaRPr lang="en-US" sz="17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Senapati, Manipur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897880" y="2926080"/>
            <a:ext cx="2880360" cy="502920"/>
          </a:xfrm>
          <a:prstGeom prst="rect">
            <a:avLst/>
          </a:prstGeom>
          <a:solidFill>
            <a:srgbClr val="0B1D3A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297180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FF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530M+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995160" y="30449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897880" y="3520440"/>
            <a:ext cx="2880360" cy="502920"/>
          </a:xfrm>
          <a:prstGeom prst="rect">
            <a:avLst/>
          </a:prstGeom>
          <a:solidFill>
            <a:srgbClr val="0B1D3A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97880" y="35661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FF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17.9M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995160" y="363931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Deaths/yr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897880" y="4114800"/>
            <a:ext cx="2880360" cy="502920"/>
          </a:xfrm>
          <a:prstGeom prst="rect">
            <a:avLst/>
          </a:prstGeom>
          <a:solidFill>
            <a:srgbClr val="0B1D3A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416052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FF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10M+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995160" y="42336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Parkinson's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Introduction, Motivation &amp; Contributions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5669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with Existing Systems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886968"/>
            <a:ext cx="2834640" cy="667512"/>
          </a:xfrm>
          <a:prstGeom prst="rect">
            <a:avLst/>
          </a:prstGeom>
          <a:solidFill>
            <a:srgbClr val="0F2744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86968"/>
            <a:ext cx="50292" cy="667512"/>
          </a:xfrm>
          <a:prstGeom prst="rect">
            <a:avLst/>
          </a:prstGeom>
          <a:solidFill>
            <a:srgbClr val="E05C68"/>
          </a:solidFill>
          <a:ln w="12700">
            <a:solidFill>
              <a:srgbClr val="E05C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23544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6128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models give no explanation — a barrier to clinical trust.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" y="1636776"/>
            <a:ext cx="2834640" cy="667512"/>
          </a:xfrm>
          <a:prstGeom prst="rect">
            <a:avLst/>
          </a:prstGeom>
          <a:solidFill>
            <a:srgbClr val="0F2744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636776"/>
            <a:ext cx="50292" cy="667512"/>
          </a:xfrm>
          <a:prstGeom prst="rect">
            <a:avLst/>
          </a:prstGeom>
          <a:solidFill>
            <a:srgbClr val="E05C68"/>
          </a:solidFill>
          <a:ln w="12700">
            <a:solidFill>
              <a:srgbClr val="E05C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73352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91109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single-disease; no unified multi-disease platform.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2386584"/>
            <a:ext cx="2834640" cy="667512"/>
          </a:xfrm>
          <a:prstGeom prst="rect">
            <a:avLst/>
          </a:prstGeom>
          <a:solidFill>
            <a:srgbClr val="0F2744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386584"/>
            <a:ext cx="50292" cy="667512"/>
          </a:xfrm>
          <a:prstGeom prst="rect">
            <a:avLst/>
          </a:prstGeom>
          <a:solidFill>
            <a:srgbClr val="E05C68"/>
          </a:solidFill>
          <a:ln w="12700">
            <a:solidFill>
              <a:srgbClr val="E05C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23160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266090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models live in Jupyter notebooks, inaccessible to clinicians.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2880" y="31546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" y="3456432"/>
            <a:ext cx="2834640" cy="1536192"/>
          </a:xfrm>
          <a:prstGeom prst="rect">
            <a:avLst/>
          </a:prstGeom>
          <a:solidFill>
            <a:srgbClr val="0F2744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35387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prediction for 3 chronic diseases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3886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ML model via 17-algorithm benchmarking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42336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LIME for feature-level explanations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458114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UI + OCR + AI chatbot + PDF export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56692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MediXAI vs Existing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189564"/>
              </p:ext>
            </p:extLst>
          </p:nvPr>
        </p:nvGraphicFramePr>
        <p:xfrm>
          <a:off x="3200400" y="886968"/>
          <a:ext cx="2651760" cy="2688336"/>
        </p:xfrm>
        <a:graphic>
          <a:graphicData uri="http://schemas.openxmlformats.org/drawingml/2006/table">
            <a:tbl>
              <a:tblPr/>
              <a:tblGrid>
                <a:gridCol w="88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Others</a:t>
                      </a:r>
                      <a:endParaRPr lang="en-US" sz="100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MediXAI</a:t>
                      </a:r>
                      <a:endParaRPr lang="en-US" sz="100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Diseases</a:t>
                      </a:r>
                      <a:endParaRPr lang="en-US" sz="95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05C68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Explainability</a:t>
                      </a:r>
                      <a:endParaRPr lang="en-US" sz="95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C68"/>
                          </a:solidFill>
                        </a:rPr>
                        <a:t>NA</a:t>
                      </a:r>
                      <a:endParaRPr lang="en-US" sz="110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</a:rPr>
                        <a:t>SHAP+LIME</a:t>
                      </a:r>
                      <a:endParaRPr lang="en-US" sz="90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Web UI</a:t>
                      </a:r>
                      <a:endParaRPr lang="en-US" sz="95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C68"/>
                          </a:solidFill>
                        </a:rPr>
                        <a:t>NA</a:t>
                      </a:r>
                      <a:endParaRPr lang="en-US" sz="110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2ECC71"/>
                          </a:solidFill>
                        </a:rPr>
                        <a:t>Streamlit</a:t>
                      </a:r>
                      <a:endParaRPr lang="en-US" sz="90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AI Chatbot</a:t>
                      </a:r>
                      <a:endParaRPr lang="en-US" sz="95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C68"/>
                          </a:solidFill>
                        </a:rPr>
                        <a:t>NA</a:t>
                      </a:r>
                      <a:endParaRPr lang="en-US" sz="110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</a:rPr>
                        <a:t>Groq LLaMA</a:t>
                      </a:r>
                      <a:endParaRPr lang="en-US" sz="90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OCR / CSV</a:t>
                      </a:r>
                      <a:endParaRPr lang="en-US" sz="95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C68"/>
                          </a:solidFill>
                        </a:rPr>
                        <a:t>NA</a:t>
                      </a:r>
                      <a:endParaRPr lang="en-US" sz="110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</a:rPr>
                        <a:t>Tesseract</a:t>
                      </a:r>
                      <a:endParaRPr lang="en-US" sz="90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PDF Report</a:t>
                      </a:r>
                      <a:endParaRPr lang="en-US" sz="95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C68"/>
                          </a:solidFill>
                        </a:rPr>
                        <a:t>NA</a:t>
                      </a:r>
                      <a:endParaRPr lang="en-US" sz="110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</a:rPr>
                        <a:t>fpdf2</a:t>
                      </a:r>
                      <a:endParaRPr lang="en-US" sz="900" dirty="0"/>
                    </a:p>
                  </a:txBody>
                  <a:tcPr anchor="ctr">
                    <a:lnL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6035040" y="5669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Contributions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035040" y="886968"/>
            <a:ext cx="2926080" cy="758952"/>
          </a:xfrm>
          <a:prstGeom prst="rect">
            <a:avLst/>
          </a:prstGeom>
          <a:solidFill>
            <a:srgbClr val="0F2744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035040" y="886968"/>
            <a:ext cx="50292" cy="75895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72200" y="932688"/>
            <a:ext cx="2724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Pipeline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172200" y="1188720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NHANES CDC download, merging, imputation for 10,000+ records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035040" y="1737360"/>
            <a:ext cx="2926080" cy="758952"/>
          </a:xfrm>
          <a:prstGeom prst="rect">
            <a:avLst/>
          </a:prstGeom>
          <a:solidFill>
            <a:srgbClr val="0F2744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1737360"/>
            <a:ext cx="50292" cy="75895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72200" y="1783080"/>
            <a:ext cx="2724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17-Algorithm Benchmarking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172200" y="2039112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Bagging, Boosting, Ensemble &amp; Individual classifiers per disease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035040" y="2587752"/>
            <a:ext cx="2926080" cy="758952"/>
          </a:xfrm>
          <a:prstGeom prst="rect">
            <a:avLst/>
          </a:prstGeom>
          <a:solidFill>
            <a:srgbClr val="0F2744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035040" y="2587752"/>
            <a:ext cx="50292" cy="75895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72200" y="2633472"/>
            <a:ext cx="2724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Integration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172200" y="2889504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 + LIME TabularExplainer with real training-data backgrounds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035040" y="3438144"/>
            <a:ext cx="2926080" cy="758952"/>
          </a:xfrm>
          <a:prstGeom prst="rect">
            <a:avLst/>
          </a:prstGeom>
          <a:solidFill>
            <a:srgbClr val="0F2744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035040" y="3438144"/>
            <a:ext cx="50292" cy="75895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72200" y="3483864"/>
            <a:ext cx="2724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172200" y="3739896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composite heart features + 3 voice features for Parkinson's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6035040" y="4288536"/>
            <a:ext cx="2926080" cy="758952"/>
          </a:xfrm>
          <a:prstGeom prst="rect">
            <a:avLst/>
          </a:prstGeom>
          <a:solidFill>
            <a:srgbClr val="0F2744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35040" y="4288536"/>
            <a:ext cx="50292" cy="75895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172200" y="4334256"/>
            <a:ext cx="2724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172200" y="4590288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14-module Streamlit app: auth, OCR, bulk CSV, chatbot, PDF, history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 Stack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594360"/>
            <a:ext cx="5120640" cy="4343400"/>
          </a:xfrm>
          <a:prstGeom prst="rect">
            <a:avLst/>
          </a:prstGeom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0" y="5943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0" y="960120"/>
            <a:ext cx="1664208" cy="1234440"/>
          </a:xfrm>
          <a:prstGeom prst="rect">
            <a:avLst/>
          </a:prstGeom>
          <a:solidFill>
            <a:srgbClr val="0F2744"/>
          </a:solidFill>
          <a:ln w="10160">
            <a:solidFill>
              <a:srgbClr val="0D7377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1051560"/>
            <a:ext cx="530352" cy="5303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32120" y="161848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532120" y="189280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486400" y="2313432"/>
            <a:ext cx="1664208" cy="1234440"/>
          </a:xfrm>
          <a:prstGeom prst="rect">
            <a:avLst/>
          </a:prstGeom>
          <a:solidFill>
            <a:srgbClr val="0F2744"/>
          </a:solidFill>
          <a:ln w="10160">
            <a:solidFill>
              <a:srgbClr val="0D7377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2404872"/>
            <a:ext cx="530352" cy="5303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32120" y="29718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LIME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532120" y="324612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RF / ExtraTrees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486400" y="3666744"/>
            <a:ext cx="1664208" cy="1234440"/>
          </a:xfrm>
          <a:prstGeom prst="rect">
            <a:avLst/>
          </a:prstGeom>
          <a:solidFill>
            <a:srgbClr val="0F2744"/>
          </a:solidFill>
          <a:ln w="10160">
            <a:solidFill>
              <a:srgbClr val="0D7377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328" y="3758184"/>
            <a:ext cx="530352" cy="5303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532120" y="432511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Plotly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5532120" y="459943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Charts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7269480" y="960120"/>
            <a:ext cx="1664208" cy="1234440"/>
          </a:xfrm>
          <a:prstGeom prst="rect">
            <a:avLst/>
          </a:prstGeom>
          <a:solidFill>
            <a:srgbClr val="0F2744"/>
          </a:solidFill>
          <a:ln w="10160">
            <a:solidFill>
              <a:srgbClr val="0D7377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6408" y="1051560"/>
            <a:ext cx="530352" cy="53035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15200" y="161848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7315200" y="189280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model artefacts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7269480" y="2313432"/>
            <a:ext cx="1664208" cy="1234440"/>
          </a:xfrm>
          <a:prstGeom prst="rect">
            <a:avLst/>
          </a:prstGeom>
          <a:solidFill>
            <a:srgbClr val="0F2744"/>
          </a:solidFill>
          <a:ln w="10160">
            <a:solidFill>
              <a:srgbClr val="0D7377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6408" y="2404872"/>
            <a:ext cx="530352" cy="53035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15200" y="29718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fpdf2 Reports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7315200" y="324612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pytesseract OCR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7269480" y="3666744"/>
            <a:ext cx="1664208" cy="1234440"/>
          </a:xfrm>
          <a:prstGeom prst="rect">
            <a:avLst/>
          </a:prstGeom>
          <a:solidFill>
            <a:srgbClr val="0F2744"/>
          </a:solidFill>
          <a:ln w="10160">
            <a:solidFill>
              <a:srgbClr val="0D7377"/>
            </a:solidFill>
            <a:prstDash val="solid"/>
          </a:ln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6408" y="3758184"/>
            <a:ext cx="530352" cy="53035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315200" y="432511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3.1</a:t>
            </a:r>
            <a:endParaRPr lang="en-US" sz="1050" dirty="0"/>
          </a:p>
        </p:txBody>
      </p:sp>
      <p:sp>
        <p:nvSpPr>
          <p:cNvPr id="29" name="Text 20"/>
          <p:cNvSpPr/>
          <p:nvPr/>
        </p:nvSpPr>
        <p:spPr>
          <a:xfrm>
            <a:off x="7315200" y="459943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Chatbot</a:t>
            </a:r>
            <a:endParaRPr lang="en-US" sz="850" dirty="0"/>
          </a:p>
        </p:txBody>
      </p:sp>
      <p:sp>
        <p:nvSpPr>
          <p:cNvPr id="30" name="Text 21"/>
          <p:cNvSpPr/>
          <p:nvPr/>
        </p:nvSpPr>
        <p:spPr>
          <a:xfrm>
            <a:off x="182880" y="4919472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Input → Preprocessing → ML Inference → SHAP/LIME → Risk Score + PDF + Chatbot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8788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Diabetes &amp; Heart Disease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399" y="566928"/>
            <a:ext cx="50292" cy="4389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282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 —  Random Forest on NHANES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81534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27AE60">
              <a:alpha val="22000"/>
            </a:srgbClr>
          </a:solidFill>
          <a:ln w="1524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33628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95.85%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135380"/>
            <a:ext cx="1298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55648" y="81534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0D7377">
              <a:alpha val="22000"/>
            </a:srgbClr>
          </a:solidFill>
          <a:ln w="1524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5648" y="833628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0.9761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55648" y="1135380"/>
            <a:ext cx="1298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91256" y="81534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F6C90E">
              <a:alpha val="22000"/>
            </a:srgbClr>
          </a:solidFill>
          <a:ln w="1524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91256" y="833628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6C9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92%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91256" y="1135380"/>
            <a:ext cx="1298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147370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(AUC=0.98)</a:t>
            </a:r>
            <a:endParaRPr lang="en-US" sz="10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711452"/>
            <a:ext cx="2103120" cy="1572768"/>
          </a:xfrm>
          <a:prstGeom prst="rect">
            <a:avLst/>
          </a:prstGeom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7" name="Text 14"/>
          <p:cNvSpPr/>
          <p:nvPr/>
        </p:nvSpPr>
        <p:spPr>
          <a:xfrm>
            <a:off x="2514600" y="147370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14600" y="1711452"/>
            <a:ext cx="2103120" cy="1572768"/>
          </a:xfrm>
          <a:prstGeom prst="rect">
            <a:avLst/>
          </a:prstGeom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22" name="Shape 18"/>
          <p:cNvSpPr/>
          <p:nvPr/>
        </p:nvSpPr>
        <p:spPr>
          <a:xfrm>
            <a:off x="4709160" y="566928"/>
            <a:ext cx="0" cy="438912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773168" y="566928"/>
            <a:ext cx="50292" cy="4389120"/>
          </a:xfrm>
          <a:prstGeom prst="rect">
            <a:avLst/>
          </a:prstGeom>
          <a:solidFill>
            <a:srgbClr val="E05C68"/>
          </a:solidFill>
          <a:ln w="12700">
            <a:solidFill>
              <a:srgbClr val="E05C6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910328" y="566928"/>
            <a:ext cx="4050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 —  ExtraTrees (Best of 17)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4910328" y="91440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E05C68">
              <a:alpha val="22000"/>
            </a:srgbClr>
          </a:solidFill>
          <a:ln w="15240">
            <a:solidFill>
              <a:srgbClr val="E05C6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910328" y="93268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C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89.13%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4910328" y="123444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281928" y="91440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0D7377">
              <a:alpha val="22000"/>
            </a:srgbClr>
          </a:solidFill>
          <a:ln w="15240">
            <a:solidFill>
              <a:srgbClr val="0D737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281928" y="93268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0.97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6281928" y="123444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7653528" y="91440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2ECC71">
              <a:alpha val="22000"/>
            </a:srgbClr>
          </a:solidFill>
          <a:ln w="15240">
            <a:solidFill>
              <a:srgbClr val="2ECC71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653528" y="93268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C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91.1%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7653528" y="123444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CV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4910328" y="1572768"/>
            <a:ext cx="4050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17-Algorithm Comparison</a:t>
            </a:r>
            <a:endParaRPr lang="en-US" sz="100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10328" y="1810512"/>
            <a:ext cx="4050792" cy="1572768"/>
          </a:xfrm>
          <a:prstGeom prst="rect">
            <a:avLst/>
          </a:prstGeom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36" name="Text 31"/>
          <p:cNvSpPr/>
          <p:nvPr/>
        </p:nvSpPr>
        <p:spPr>
          <a:xfrm>
            <a:off x="4910328" y="3456432"/>
            <a:ext cx="4050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Attribution (Heart)</a:t>
            </a:r>
            <a:endParaRPr lang="en-US" sz="10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910328" y="3694176"/>
            <a:ext cx="4050792" cy="1298448"/>
          </a:xfrm>
          <a:prstGeom prst="rect">
            <a:avLst/>
          </a:prstGeom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0" name="Text CM_Diabetes_Label"/>
          <p:cNvSpPr/>
          <p:nvPr/>
        </p:nvSpPr>
        <p:spPr>
          <a:xfrm>
            <a:off x="320040" y="3357372"/>
            <a:ext cx="1966080" cy="17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Diabetes</a:t>
            </a:r>
            <a:endParaRPr lang="en-US" sz="850" dirty="0"/>
          </a:p>
        </p:txBody>
      </p:sp>
      <p:pic>
        <p:nvPicPr>
          <p:cNvPr id="51" name="Image CM_Diabetes" descr="diabetes_confusion_matrix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0040" y="3529092"/>
            <a:ext cx="1966080" cy="1270000"/>
          </a:xfrm>
          <a:prstGeom prst="rect">
            <a:avLst/>
          </a:prstGeom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2" name="Text CM_Heart_Label"/>
          <p:cNvSpPr/>
          <p:nvPr/>
        </p:nvSpPr>
        <p:spPr>
          <a:xfrm>
            <a:off x="2350200" y="3357372"/>
            <a:ext cx="1966080" cy="17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Heart</a:t>
            </a:r>
            <a:endParaRPr lang="en-US" sz="850" dirty="0"/>
          </a:p>
        </p:txBody>
      </p:sp>
      <p:pic>
        <p:nvPicPr>
          <p:cNvPr id="53" name="Image CM_Heart" descr="heart_confusion_matrix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514600" y="3529092"/>
            <a:ext cx="1966080" cy="1270000"/>
          </a:xfrm>
          <a:prstGeom prst="rect">
            <a:avLst/>
          </a:prstGeom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17CB385-B103-F3EA-7878-D9F6DF280244}"/>
              </a:ext>
            </a:extLst>
          </p:cNvPr>
          <p:cNvSpPr txBox="1"/>
          <p:nvPr/>
        </p:nvSpPr>
        <p:spPr>
          <a:xfrm>
            <a:off x="876925" y="4763762"/>
            <a:ext cx="3257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</a:rPr>
              <a:t>Glucose = 26.89 × HbA1c − 45.54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Parkinson's Model &amp; Explainability (SHAP + LIME)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566928"/>
            <a:ext cx="50292" cy="43891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669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Parkinson's  —  XGBoost on Oxford Voice Dataset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9B59B6">
              <a:alpha val="22000"/>
            </a:srgbClr>
          </a:solidFill>
          <a:ln w="15240">
            <a:solidFill>
              <a:srgbClr val="9B59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32688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9B59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~95%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20040" y="121615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55648" y="91440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0D7377">
              <a:alpha val="22000"/>
            </a:srgbClr>
          </a:solidFill>
          <a:ln w="1524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5648" y="932688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73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0.9793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55648" y="121615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91256" y="914400"/>
            <a:ext cx="1298448" cy="530352"/>
          </a:xfrm>
          <a:prstGeom prst="roundRect">
            <a:avLst>
              <a:gd name="adj" fmla="val 10345"/>
            </a:avLst>
          </a:prstGeom>
          <a:solidFill>
            <a:srgbClr val="F6C90E">
              <a:alpha val="22000"/>
            </a:srgbClr>
          </a:solidFill>
          <a:ln w="1524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91256" y="932688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6C9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~97%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191256" y="121615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1536192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Multi-Algorithm Accuracy &amp; AUC</a:t>
            </a:r>
            <a:endParaRPr lang="en-US" sz="10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773936"/>
            <a:ext cx="4206240" cy="1389888"/>
          </a:xfrm>
          <a:prstGeom prst="rect">
            <a:avLst/>
          </a:prstGeom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7" name="Text 14"/>
          <p:cNvSpPr/>
          <p:nvPr/>
        </p:nvSpPr>
        <p:spPr>
          <a:xfrm>
            <a:off x="320040" y="323697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ROC Curves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" y="3474720"/>
            <a:ext cx="4206240" cy="1508760"/>
          </a:xfrm>
          <a:prstGeom prst="rect">
            <a:avLst/>
          </a:prstGeom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9" name="Shape 15"/>
          <p:cNvSpPr/>
          <p:nvPr/>
        </p:nvSpPr>
        <p:spPr>
          <a:xfrm>
            <a:off x="4663440" y="566928"/>
            <a:ext cx="0" cy="438912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736592" y="566928"/>
            <a:ext cx="50292" cy="43891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64608" y="5669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SHAP Waterfall + LIME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64608" y="91440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— Parkinson's True Positive</a:t>
            </a:r>
            <a:endParaRPr lang="en-US" sz="10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64608" y="1152144"/>
            <a:ext cx="4114800" cy="1417320"/>
          </a:xfrm>
          <a:prstGeom prst="rect">
            <a:avLst/>
          </a:prstGeom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24" name="Text 19"/>
          <p:cNvSpPr/>
          <p:nvPr/>
        </p:nvSpPr>
        <p:spPr>
          <a:xfrm>
            <a:off x="4864608" y="265176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— Heart Disease (left) &amp; Parkinson's (right)</a:t>
            </a:r>
            <a:endParaRPr lang="en-US" sz="1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64608" y="2889504"/>
            <a:ext cx="1993392" cy="1463040"/>
          </a:xfrm>
          <a:prstGeom prst="rect">
            <a:avLst/>
          </a:prstGeom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pic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49440" y="2889504"/>
            <a:ext cx="1993392" cy="1463040"/>
          </a:xfrm>
          <a:prstGeom prst="rect">
            <a:avLst/>
          </a:prstGeom>
          <a:effectLst>
            <a:outerShdw blurRad="76200" dist="25400" dir="162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27" name="Text 20"/>
          <p:cNvSpPr/>
          <p:nvPr/>
        </p:nvSpPr>
        <p:spPr>
          <a:xfrm>
            <a:off x="4864608" y="442569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&amp; LIME agree on top features — mutual reinforcement builds clinical confidence.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576072"/>
            <a:ext cx="1664208" cy="804672"/>
          </a:xfrm>
          <a:prstGeom prst="rect">
            <a:avLst/>
          </a:prstGeom>
          <a:solidFill>
            <a:srgbClr val="27AE60">
              <a:alpha val="20000"/>
            </a:srgbClr>
          </a:solidFill>
          <a:ln w="1651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594360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95.85%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" y="100584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965960" y="576072"/>
            <a:ext cx="1664208" cy="804672"/>
          </a:xfrm>
          <a:prstGeom prst="rect">
            <a:avLst/>
          </a:prstGeom>
          <a:solidFill>
            <a:srgbClr val="E05C68">
              <a:alpha val="20000"/>
            </a:srgbClr>
          </a:solidFill>
          <a:ln w="16510">
            <a:solidFill>
              <a:srgbClr val="E05C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594360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5C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89.13%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965960" y="100584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(ExtraTrees)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49040" y="576072"/>
            <a:ext cx="1664208" cy="804672"/>
          </a:xfrm>
          <a:prstGeom prst="rect">
            <a:avLst/>
          </a:prstGeom>
          <a:solidFill>
            <a:srgbClr val="9B59B6">
              <a:alpha val="20000"/>
            </a:srgbClr>
          </a:solidFill>
          <a:ln w="1651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594360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B59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~95%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49040" y="100584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Parkinson's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532120" y="576072"/>
            <a:ext cx="1664208" cy="804672"/>
          </a:xfrm>
          <a:prstGeom prst="rect">
            <a:avLst/>
          </a:prstGeom>
          <a:solidFill>
            <a:srgbClr val="0D7377">
              <a:alpha val="20000"/>
            </a:srgbClr>
          </a:solidFill>
          <a:ln w="1651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594360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0.97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532120" y="100584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0" y="576072"/>
            <a:ext cx="1664208" cy="804672"/>
          </a:xfrm>
          <a:prstGeom prst="rect">
            <a:avLst/>
          </a:prstGeom>
          <a:solidFill>
            <a:srgbClr val="F6C90E">
              <a:alpha val="20000"/>
            </a:srgbClr>
          </a:solidFill>
          <a:ln w="16510">
            <a:solidFill>
              <a:srgbClr val="F6C9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594360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6C9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0.9793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0" y="100584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Parkinson's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2880" y="14904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2880" y="1828800"/>
            <a:ext cx="4297680" cy="548640"/>
          </a:xfrm>
          <a:prstGeom prst="rect">
            <a:avLst/>
          </a:prstGeom>
          <a:solidFill>
            <a:srgbClr val="0F2744"/>
          </a:solidFill>
          <a:ln w="889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1984248"/>
            <a:ext cx="219456" cy="21945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188366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LIME materially improve clinical trust — consistent agreement on top features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2468880"/>
            <a:ext cx="4297680" cy="548640"/>
          </a:xfrm>
          <a:prstGeom prst="rect">
            <a:avLst/>
          </a:prstGeom>
          <a:solidFill>
            <a:srgbClr val="0F2744"/>
          </a:solidFill>
          <a:ln w="889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2624328"/>
            <a:ext cx="219456" cy="21945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52374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outperform all individual classifiers by 6–12% accuracy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" y="3108960"/>
            <a:ext cx="4297680" cy="548640"/>
          </a:xfrm>
          <a:prstGeom prst="rect">
            <a:avLst/>
          </a:prstGeom>
          <a:solidFill>
            <a:srgbClr val="0F2744"/>
          </a:solidFill>
          <a:ln w="889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3264408"/>
            <a:ext cx="219456" cy="21945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16382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validated by SHAP — domain knowledge adds measurable value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2880" y="3749040"/>
            <a:ext cx="4297680" cy="548640"/>
          </a:xfrm>
          <a:prstGeom prst="rect">
            <a:avLst/>
          </a:prstGeom>
          <a:solidFill>
            <a:srgbClr val="0F2744"/>
          </a:solidFill>
          <a:ln w="889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904488"/>
            <a:ext cx="219456" cy="21945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80390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training-data LIME backgrounds produce stable, clinically coherent explanations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82880" y="4389120"/>
            <a:ext cx="4297680" cy="548640"/>
          </a:xfrm>
          <a:prstGeom prst="rect">
            <a:avLst/>
          </a:prstGeom>
          <a:solidFill>
            <a:srgbClr val="0F2744"/>
          </a:solidFill>
          <a:ln w="889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4544568"/>
            <a:ext cx="219456" cy="21945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44398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architecture: new disease modules added without touching existing code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63440" y="14904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63440" y="1828800"/>
            <a:ext cx="4297680" cy="548640"/>
          </a:xfrm>
          <a:prstGeom prst="rect">
            <a:avLst/>
          </a:prstGeom>
          <a:solidFill>
            <a:srgbClr val="0F2744"/>
          </a:solidFill>
          <a:ln w="889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18653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Integration via FHIR API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210312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clinical data from hospital records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2468880"/>
            <a:ext cx="4297680" cy="548640"/>
          </a:xfrm>
          <a:prstGeom prst="rect">
            <a:avLst/>
          </a:prstGeom>
          <a:solidFill>
            <a:srgbClr val="0F2744"/>
          </a:solidFill>
          <a:ln w="889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250545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0600" y="27432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model training across hospitals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108960"/>
            <a:ext cx="4297680" cy="548640"/>
          </a:xfrm>
          <a:prstGeom prst="rect">
            <a:avLst/>
          </a:prstGeom>
          <a:solidFill>
            <a:srgbClr val="0F2744"/>
          </a:solidFill>
          <a:ln w="889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14553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Modelling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00600" y="338328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&amp; time-series risk trajectory assessment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3749040"/>
            <a:ext cx="4297680" cy="548640"/>
          </a:xfrm>
          <a:prstGeom prst="rect">
            <a:avLst/>
          </a:prstGeom>
          <a:solidFill>
            <a:srgbClr val="0F2744"/>
          </a:solidFill>
          <a:ln w="889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78561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Disease Coverage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00600" y="402336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CKD, stroke risk, liver disease, depression modules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4389120"/>
            <a:ext cx="4297680" cy="548640"/>
          </a:xfrm>
          <a:prstGeom prst="rect">
            <a:avLst/>
          </a:prstGeom>
          <a:solidFill>
            <a:srgbClr val="0F2744"/>
          </a:solidFill>
          <a:ln w="889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44256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Mobile Deployment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00600" y="466344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containerised, scalable on AWS/GCP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602</Words>
  <Application>Microsoft Office PowerPoint</Application>
  <PresentationFormat>On-screen Show (16:9)</PresentationFormat>
  <Paragraphs>156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MediXAI</dc:title>
  <dc:subject>PptxGenJS Presentation</dc:subject>
  <dc:creator>Sambodh Gupta</dc:creator>
  <cp:lastModifiedBy>sambodh gupta</cp:lastModifiedBy>
  <cp:revision>3</cp:revision>
  <dcterms:created xsi:type="dcterms:W3CDTF">2026-04-28T09:12:23Z</dcterms:created>
  <dcterms:modified xsi:type="dcterms:W3CDTF">2026-04-29T04:34:57Z</dcterms:modified>
</cp:coreProperties>
</file>